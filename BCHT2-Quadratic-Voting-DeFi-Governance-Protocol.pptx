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defPPr>
      <a:defRPr lang="en-K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2"/>
    <p:restoredTop sz="94610"/>
  </p:normalViewPr>
  <p:slideViewPr>
    <p:cSldViewPr snapToGrid="0" snapToObjects="1">
      <p:cViewPr>
        <p:scale>
          <a:sx n="154" d="100"/>
          <a:sy n="154" d="100"/>
        </p:scale>
        <p:origin x="1160" y="1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790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  <p:txBody>
          <a:bodyPr/>
          <a:lstStyle/>
          <a:p>
            <a:endParaRPr lang="en-KZ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C1D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3.png"/><Relationship Id="rId4" Type="http://schemas.openxmlformats.org/officeDocument/2006/relationships/image" Target="../media/image23.svg"/><Relationship Id="rId9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png"/><Relationship Id="rId5" Type="http://schemas.openxmlformats.org/officeDocument/2006/relationships/image" Target="../media/image3.pn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idynnnn/finalblock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1.png"/><Relationship Id="rId5" Type="http://schemas.openxmlformats.org/officeDocument/2006/relationships/image" Target="../media/image3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69135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BCHT2: Quadratic Voting DeFi Governance Protocol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925119" y="2789932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Full-stack decentralized governance with anti-plutocracy design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3925119" y="3176215"/>
            <a:ext cx="231226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EE27D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14936" y="3223468"/>
            <a:ext cx="25898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AIDYN ZHUBANYSHEV &amp; KHVAN DANIIL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08229" y="3176215"/>
            <a:ext cx="701129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EEE27D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98047" y="3223468"/>
            <a:ext cx="97869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MAY 2026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8BBE6FE-7BB0-C6B7-9EAD-7B63ADD4C6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636" y="4698684"/>
            <a:ext cx="1872364" cy="444816"/>
          </a:xfrm>
          <a:prstGeom prst="rect">
            <a:avLst/>
          </a:prstGeom>
        </p:spPr>
      </p:pic>
      <p:pic>
        <p:nvPicPr>
          <p:cNvPr id="10" name="Рисунок 1">
            <a:extLst>
              <a:ext uri="{FF2B5EF4-FFF2-40B4-BE49-F238E27FC236}">
                <a16:creationId xmlns:a16="http://schemas.microsoft.com/office/drawing/2014/main" id="{07C7A927-52FF-39B5-9A95-3CA5868EA0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0404"/>
          <a:stretch>
            <a:fillRect/>
          </a:stretch>
        </p:blipFill>
        <p:spPr>
          <a:xfrm>
            <a:off x="0" y="-1"/>
            <a:ext cx="3433156" cy="51510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8127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Agenda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69463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916534"/>
            <a:ext cx="4004965" cy="190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025476"/>
            <a:ext cx="30482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Project Overview &amp; Objectives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42842" y="1694631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1916534"/>
            <a:ext cx="4005039" cy="190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42842" y="2025476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System Architecture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96119" y="2494955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03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702719"/>
            <a:ext cx="4004965" cy="190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6119" y="2825800"/>
            <a:ext cx="395808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Mathematical Model — Quadratic Voting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642842" y="2494955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04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2702719"/>
            <a:ext cx="4005039" cy="190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642842" y="2825800"/>
            <a:ext cx="304279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Data Indexing with The Graph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496119" y="3295278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05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3488829"/>
            <a:ext cx="4004965" cy="190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6119" y="3626123"/>
            <a:ext cx="32943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Security Architecture &amp; Defenses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1"/>
          <p:cNvSpPr/>
          <p:nvPr/>
        </p:nvSpPr>
        <p:spPr>
          <a:xfrm>
            <a:off x="4642842" y="3295278"/>
            <a:ext cx="7407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Prata Light" pitchFamily="34" charset="-122"/>
                <a:cs typeface="Times New Roman" panose="02020603050405020304" pitchFamily="18" charset="0"/>
              </a:rPr>
              <a:t>06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2842" y="3488829"/>
            <a:ext cx="4005039" cy="1905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4642842" y="3626123"/>
            <a:ext cx="4005039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Audit Results, Centralization Analysis &amp; Conclusion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8AB439C-E357-1459-7524-85D05A711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1636" y="4698684"/>
            <a:ext cx="1872364" cy="4448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78610" y="368647"/>
            <a:ext cx="3669060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Project Objectives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78610" y="944687"/>
            <a:ext cx="4815780" cy="919237"/>
          </a:xfrm>
          <a:prstGeom prst="roundRect">
            <a:avLst>
              <a:gd name="adj" fmla="val 209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007048" y="1073125"/>
            <a:ext cx="2360042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Full-Stack DeFi Protocol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007048" y="1343620"/>
            <a:ext cx="45589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Built end-to-end on Ethereum Sepolia — smart contracts, indexing, and a React/Vite frontend.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3878610" y="1980307"/>
            <a:ext cx="4815780" cy="919237"/>
          </a:xfrm>
          <a:prstGeom prst="roundRect">
            <a:avLst>
              <a:gd name="adj" fmla="val 209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007048" y="2108746"/>
            <a:ext cx="206313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Quadratic Voting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007048" y="2379241"/>
            <a:ext cx="45589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Replaces linear token-weighted voting to curb whale dominance and promote fair participation.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878610" y="3015928"/>
            <a:ext cx="4815780" cy="919237"/>
          </a:xfrm>
          <a:prstGeom prst="roundRect">
            <a:avLst>
              <a:gd name="adj" fmla="val 2096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007048" y="3144366"/>
            <a:ext cx="2092449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Security-First Design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007048" y="3414861"/>
            <a:ext cx="4558903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Hardened against flash-loan attacks, centralization risks, and privilege escalation.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78610" y="4051548"/>
            <a:ext cx="4815780" cy="723305"/>
          </a:xfrm>
          <a:prstGeom prst="roundRect">
            <a:avLst>
              <a:gd name="adj" fmla="val 2664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007048" y="4179987"/>
            <a:ext cx="2472110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Production-Grade Quality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007048" y="4450482"/>
            <a:ext cx="5016103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Modular monorepo architecture with full audit coverage and rigorous testing.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7590684-2955-8375-03AF-F1D1E6CCC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17" name="Рисунок 1">
            <a:extLst>
              <a:ext uri="{FF2B5EF4-FFF2-40B4-BE49-F238E27FC236}">
                <a16:creationId xmlns:a16="http://schemas.microsoft.com/office/drawing/2014/main" id="{007B0905-0610-3AFB-38A2-F10F396B2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90" y="2027277"/>
            <a:ext cx="3607981" cy="74382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499914"/>
            <a:ext cx="5157639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System Context &amp; Data Flow</a:t>
            </a:r>
            <a:endParaRPr lang="en-US" sz="2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46501" y="1674334"/>
            <a:ext cx="963373" cy="14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Frontend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03701" y="1859450"/>
            <a:ext cx="963373" cy="22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3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React/Vite UI for users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600672" y="1674334"/>
            <a:ext cx="1415448" cy="14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Contracts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00672" y="1859450"/>
            <a:ext cx="958248" cy="22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Governor, Token, MathLib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82451" y="3675862"/>
            <a:ext cx="927502" cy="14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Indexer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9651" y="3860979"/>
            <a:ext cx="927502" cy="22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3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Graph subgraph ingests events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569926" y="3675862"/>
            <a:ext cx="1446194" cy="1441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API</a:t>
            </a:r>
            <a:endParaRPr lang="en-US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569926" y="3860979"/>
            <a:ext cx="988994" cy="22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7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GraphQL queries deliver rich data</a:t>
            </a:r>
            <a:endParaRPr lang="en-US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21884" y="1261542"/>
            <a:ext cx="2679799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Key Architectural Principle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21884" y="1609055"/>
            <a:ext cx="2646164" cy="1297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 clean separation of concerns keeps the system maintainable and performant. On-chain consensus handles trust and finality; off-chain querying via The Graph delivers speed and rich historical data to the frontend without expensive RPC calls.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021884" y="3056632"/>
            <a:ext cx="2646164" cy="1437233"/>
          </a:xfrm>
          <a:prstGeom prst="roundRect">
            <a:avLst>
              <a:gd name="adj" fmla="val 1433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9178" y="3260452"/>
            <a:ext cx="171599" cy="13729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468070" y="3223915"/>
            <a:ext cx="2062683" cy="1081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Graph subgraph indexes contract events in real time, exposing a fast GraphQL API that powers the entire dashboard.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9E0B319-BB03-262F-1924-23C45EF663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18" name="Рисунок 1">
            <a:extLst>
              <a:ext uri="{FF2B5EF4-FFF2-40B4-BE49-F238E27FC236}">
                <a16:creationId xmlns:a16="http://schemas.microsoft.com/office/drawing/2014/main" id="{1229290F-AB6D-D772-0255-362BD7C982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451" y="1609055"/>
            <a:ext cx="5477285" cy="24614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29457"/>
            <a:ext cx="401568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Repository Structure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855961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 </a:t>
            </a: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modular monorepo</a:t>
            </a: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with strict boundaries between layers, enabling independent CI/CD pipelines, isolated testing, and parallel development across the stack.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2469059"/>
            <a:ext cx="2622724" cy="1544910"/>
          </a:xfrm>
          <a:prstGeom prst="roundRect">
            <a:avLst>
              <a:gd name="adj" fmla="val 5919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2469059"/>
            <a:ext cx="76200" cy="15449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629867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highlight>
                  <a:srgbClr val="28292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/contracts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077" y="2945904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Solidity smart contracts — Governor, ERC20Votes token, QuadraticMathLib, and TimelockController.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60601" y="2469059"/>
            <a:ext cx="2622724" cy="1544910"/>
          </a:xfrm>
          <a:prstGeom prst="roundRect">
            <a:avLst>
              <a:gd name="adj" fmla="val 5919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551" y="2469059"/>
            <a:ext cx="76200" cy="154491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478560" y="2629867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highlight>
                  <a:srgbClr val="28292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/subgraph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3478560" y="2945904"/>
            <a:ext cx="2243956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Graph indexing configuration — schema definitions, mappings, and event handlers.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025083" y="2469059"/>
            <a:ext cx="2622724" cy="1544910"/>
          </a:xfrm>
          <a:prstGeom prst="roundRect">
            <a:avLst>
              <a:gd name="adj" fmla="val 5919"/>
            </a:avLst>
          </a:prstGeom>
          <a:solidFill>
            <a:srgbClr val="1B1C1D"/>
          </a:solidFill>
          <a:ln w="19050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6033" y="2469059"/>
            <a:ext cx="76200" cy="154491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43042" y="2629867"/>
            <a:ext cx="2229222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highlight>
                  <a:srgbClr val="28292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/frontend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6243042" y="2945904"/>
            <a:ext cx="224395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React/Vite user interface — proposal dashboard, vote submission, and real-time GraphQL data binding.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AD7B56E-5F1E-57A6-6CFE-CE0B06D362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1"/>
          <p:cNvSpPr/>
          <p:nvPr/>
        </p:nvSpPr>
        <p:spPr>
          <a:xfrm>
            <a:off x="3925119" y="493291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Core Innovation — Quadratic Voting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491356" y="493291"/>
            <a:ext cx="2392635" cy="3058344"/>
          </a:xfrm>
          <a:prstGeom prst="roundRect">
            <a:avLst>
              <a:gd name="adj" fmla="val 889"/>
            </a:avLst>
          </a:prstGeom>
          <a:solidFill>
            <a:srgbClr val="EEE27D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633115" y="635049"/>
            <a:ext cx="210911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Traditional Governance (Linear)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33115" y="1219721"/>
            <a:ext cx="21091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Voting power equals token balance directly.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15" y="1852761"/>
            <a:ext cx="2109118" cy="245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115" y="2277963"/>
            <a:ext cx="210911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 whale with 100× more tokens wields </a:t>
            </a: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100× more influence</a:t>
            </a: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— governance becomes plutocratic.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4098057" y="1722387"/>
            <a:ext cx="218844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Our Solution — Quadratic Voting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4098057" y="2408846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Voting power equals the square root of committed capital.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6513819" y="2625273"/>
            <a:ext cx="2645643" cy="257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0144" y="1890473"/>
            <a:ext cx="2188443" cy="25784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691028" y="2343057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100× more tokens yields only </a:t>
            </a: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~10× more voting power</a:t>
            </a: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. Broader participation is rewarded without eliminating stake-based incentives.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07C5890-D10E-05A2-657A-1C8D0B7B6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19" name="Рисунок 1">
            <a:extLst>
              <a:ext uri="{FF2B5EF4-FFF2-40B4-BE49-F238E27FC236}">
                <a16:creationId xmlns:a16="http://schemas.microsoft.com/office/drawing/2014/main" id="{A5FED0E2-B943-670E-5E5A-B8324262C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864" y="3995193"/>
            <a:ext cx="7178271" cy="6084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8945"/>
            <a:ext cx="4441775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Quadratic Math in Detail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65162" y="1095673"/>
            <a:ext cx="2255862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Individual Vote Weight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65162" y="1461046"/>
            <a:ext cx="4401964" cy="226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162" y="1461046"/>
            <a:ext cx="3944764" cy="2265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65162" y="1845320"/>
            <a:ext cx="256259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Proposal Matching Weight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65162" y="2210693"/>
            <a:ext cx="3944764" cy="584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162" y="2210693"/>
            <a:ext cx="3944764" cy="58467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5162" y="2953048"/>
            <a:ext cx="3944764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matching formula aggregates individual square-root contributions, then squares the sum, amplifying distributed participation over concentrated capital.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4738836" y="1111225"/>
            <a:ext cx="3944764" cy="2428875"/>
          </a:xfrm>
          <a:prstGeom prst="roundRect">
            <a:avLst>
              <a:gd name="adj" fmla="val 821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876651" y="1195462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Token Balance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6453113" y="1195462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Linear Power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7633618" y="1195462"/>
            <a:ext cx="912316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Quadratic Power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876651" y="1771129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53113" y="1771129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7633618" y="1771129"/>
            <a:ext cx="13695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4876651" y="2140818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6453113" y="2140818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7633618" y="2140818"/>
            <a:ext cx="13695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3.16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4876651" y="2510507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6453113" y="2510507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7633618" y="2510507"/>
            <a:ext cx="13695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19"/>
          <p:cNvSpPr/>
          <p:nvPr/>
        </p:nvSpPr>
        <p:spPr>
          <a:xfrm>
            <a:off x="4876651" y="2880196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1,000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0"/>
          <p:cNvSpPr/>
          <p:nvPr/>
        </p:nvSpPr>
        <p:spPr>
          <a:xfrm>
            <a:off x="6453113" y="2880196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1,000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1"/>
          <p:cNvSpPr/>
          <p:nvPr/>
        </p:nvSpPr>
        <p:spPr>
          <a:xfrm>
            <a:off x="7633618" y="2880196"/>
            <a:ext cx="13695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31.6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2"/>
          <p:cNvSpPr/>
          <p:nvPr/>
        </p:nvSpPr>
        <p:spPr>
          <a:xfrm>
            <a:off x="4876651" y="3249885"/>
            <a:ext cx="1763092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10,000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3"/>
          <p:cNvSpPr/>
          <p:nvPr/>
        </p:nvSpPr>
        <p:spPr>
          <a:xfrm>
            <a:off x="6453113" y="3249885"/>
            <a:ext cx="1367135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10,000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7633618" y="3249885"/>
            <a:ext cx="136951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100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4738836" y="3680222"/>
            <a:ext cx="3944764" cy="954212"/>
          </a:xfrm>
          <a:prstGeom prst="roundRect">
            <a:avLst>
              <a:gd name="adj" fmla="val 2089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740" y="3877642"/>
            <a:ext cx="166092" cy="132904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170736" y="3837980"/>
            <a:ext cx="3379961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Sybil resistance is maintained through economic cost — splitting capital across wallets yields no advantage under quadratic rules.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3299E4F-D3F9-4803-0944-1826F3369D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9700"/>
            <a:ext cx="5346055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Proposal Funding &amp; Matching Engine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896987"/>
            <a:ext cx="4775299" cy="3024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72163" y="1980381"/>
            <a:ext cx="259526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How the Matching Engine Works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72163" y="2232943"/>
            <a:ext cx="2449116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Each proposal competes for a shared budget pool. The quadratic matching formula allocates funds proportionally to the </a:t>
            </a:r>
            <a:r>
              <a:rPr lang="en-US" sz="850" i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breadth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of support, not the depth of a single whale's commitment.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8040" y="4111563"/>
            <a:ext cx="162744" cy="162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9984" y="4108252"/>
            <a:ext cx="2074515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Multiple independent proposals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1179984" y="4497139"/>
            <a:ext cx="2074515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Each proposal is scored independently, preventing coordinated capital attacks.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9011" y="4111563"/>
            <a:ext cx="162744" cy="162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710955" y="4108252"/>
            <a:ext cx="200002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Fair budget distribution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3710955" y="4327624"/>
            <a:ext cx="2074590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Funding follows the quadratic matching formula implemented in </a:t>
            </a:r>
            <a:r>
              <a:rPr lang="en-US" sz="850" dirty="0">
                <a:solidFill>
                  <a:srgbClr val="CFCBBF"/>
                </a:solidFill>
                <a:highlight>
                  <a:srgbClr val="28292A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QuadraticMathLib.sol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30057" y="4111563"/>
            <a:ext cx="162744" cy="162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42000" y="4108252"/>
            <a:ext cx="2074590" cy="3390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Capital concentration resistance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242000" y="4497139"/>
            <a:ext cx="2074590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No single actor can dominate allocation without disproportionate economic cost.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38D091C-4687-F01A-45EF-136840A0AC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331515"/>
            <a:ext cx="4968106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Data Indexing Layer — The Graph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27336" y="878384"/>
            <a:ext cx="1872555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Why Not Direct RPC?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7336" y="1130945"/>
            <a:ext cx="477529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Direct on-chain RPC calls are slow, expensive, and impractical for querying historical event data at scale. The Graph solves this with real-time event indexing and a clean GraphQL API.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210" y="1530995"/>
            <a:ext cx="3549476" cy="31875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07164" y="2162799"/>
            <a:ext cx="1551598" cy="170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Contract Emits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0244" y="2881572"/>
            <a:ext cx="303440" cy="303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95390" y="3917156"/>
            <a:ext cx="1509970" cy="170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Subgraph Indexes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09494" y="3066576"/>
            <a:ext cx="303440" cy="303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32721" y="2520005"/>
            <a:ext cx="1509970" cy="170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Frontend Queries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30380" y="3265234"/>
            <a:ext cx="303440" cy="303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72163" y="1376809"/>
            <a:ext cx="2194471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Subgraph Schema Entities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7"/>
          <p:cNvSpPr/>
          <p:nvPr/>
        </p:nvSpPr>
        <p:spPr>
          <a:xfrm>
            <a:off x="5872163" y="1639788"/>
            <a:ext cx="2449116" cy="804714"/>
          </a:xfrm>
          <a:prstGeom prst="roundRect">
            <a:avLst>
              <a:gd name="adj" fmla="val 202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8"/>
          <p:cNvSpPr/>
          <p:nvPr/>
        </p:nvSpPr>
        <p:spPr>
          <a:xfrm>
            <a:off x="5994946" y="1762571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ProposalCreated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9"/>
          <p:cNvSpPr/>
          <p:nvPr/>
        </p:nvSpPr>
        <p:spPr>
          <a:xfrm>
            <a:off x="5994946" y="2015133"/>
            <a:ext cx="22035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Captures the proposal ID, proposer, targets, and description hash.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5872163" y="2527548"/>
            <a:ext cx="2449116" cy="804714"/>
          </a:xfrm>
          <a:prstGeom prst="roundRect">
            <a:avLst>
              <a:gd name="adj" fmla="val 202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/>
          <p:nvPr/>
        </p:nvSpPr>
        <p:spPr>
          <a:xfrm>
            <a:off x="5994946" y="2650331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VoteCast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5994946" y="2902893"/>
            <a:ext cx="22035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Records the voter's address, proposal ID, support flag, and quadratic weight.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872163" y="3415308"/>
            <a:ext cx="2449116" cy="804714"/>
          </a:xfrm>
          <a:prstGeom prst="roundRect">
            <a:avLst>
              <a:gd name="adj" fmla="val 2023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4"/>
          <p:cNvSpPr/>
          <p:nvPr/>
        </p:nvSpPr>
        <p:spPr>
          <a:xfrm>
            <a:off x="5994946" y="3538091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ProposalExecuted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5"/>
          <p:cNvSpPr/>
          <p:nvPr/>
        </p:nvSpPr>
        <p:spPr>
          <a:xfrm>
            <a:off x="5994946" y="3790652"/>
            <a:ext cx="2203549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Marks execution status and the timelock completion timestamp.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B2ADF46-83F9-C2A8-2164-F3A1AFA412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55393" y="445591"/>
            <a:ext cx="3584749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Security Architecture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347408" y="2615321"/>
            <a:ext cx="2378794" cy="1510457"/>
          </a:xfrm>
          <a:prstGeom prst="roundRect">
            <a:avLst>
              <a:gd name="adj" fmla="val 1210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223" y="2737137"/>
            <a:ext cx="365447" cy="365447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682" y="2837596"/>
            <a:ext cx="164455" cy="16445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69223" y="3207211"/>
            <a:ext cx="209773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Flash Loan Resistance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3"/>
          <p:cNvSpPr/>
          <p:nvPr/>
        </p:nvSpPr>
        <p:spPr>
          <a:xfrm>
            <a:off x="6469223" y="3460368"/>
            <a:ext cx="21351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ERC20Votes checkpoints snapshot voting power at proposal creation, making borrowed tokens ineligible.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6338813" y="983307"/>
            <a:ext cx="2378794" cy="1510457"/>
          </a:xfrm>
          <a:prstGeom prst="roundRect">
            <a:avLst>
              <a:gd name="adj" fmla="val 1210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629" y="1105123"/>
            <a:ext cx="365447" cy="365447"/>
          </a:xfrm>
          <a:prstGeom prst="rect">
            <a:avLst/>
          </a:prstGeom>
        </p:spPr>
      </p:pic>
      <p:pic>
        <p:nvPicPr>
          <p:cNvPr id="1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61088" y="1205582"/>
            <a:ext cx="164455" cy="164455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460629" y="1575197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Execution Safety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6460629" y="1828354"/>
            <a:ext cx="213516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TimelockController enforces a mandatory 2-day delay between vote passage and on-chain execution.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1363378" y="983307"/>
            <a:ext cx="4862215" cy="1329258"/>
          </a:xfrm>
          <a:prstGeom prst="roundRect">
            <a:avLst>
              <a:gd name="adj" fmla="val 137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85193" y="1105123"/>
            <a:ext cx="365447" cy="365447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85652" y="1205582"/>
            <a:ext cx="164455" cy="16445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485193" y="1575197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Access Control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9"/>
          <p:cNvSpPr/>
          <p:nvPr/>
        </p:nvSpPr>
        <p:spPr>
          <a:xfrm>
            <a:off x="1485193" y="1828353"/>
            <a:ext cx="461858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governance contract is the sole owner of all protocol contracts. This principle of least privilege means there are no deployer backdoors.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1363378" y="2430289"/>
            <a:ext cx="4862215" cy="652537"/>
          </a:xfrm>
          <a:prstGeom prst="roundRect">
            <a:avLst>
              <a:gd name="adj" fmla="val 2801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85193" y="2609255"/>
            <a:ext cx="152251" cy="121816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759260" y="2565350"/>
            <a:ext cx="4344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All critical findings from the security audit were resolved before deployment. No high-severity issues remain open.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1CFC0D0-EDAD-A07B-6135-49E2142DB5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24" name="Рисунок 1">
            <a:extLst>
              <a:ext uri="{FF2B5EF4-FFF2-40B4-BE49-F238E27FC236}">
                <a16:creationId xmlns:a16="http://schemas.microsoft.com/office/drawing/2014/main" id="{F42E07A3-A23C-5464-DCB3-128AEA781A6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8343" y="3261792"/>
            <a:ext cx="5513867" cy="15912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2901" y="407566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Proof of Concept — Flash Loan Protection</a:t>
            </a:r>
            <a:endParaRPr lang="en-US" sz="2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72901" y="1445344"/>
            <a:ext cx="476919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Demonstrating that flash-loaned tokens carry </a:t>
            </a:r>
            <a:r>
              <a:rPr lang="en-US" sz="10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zero voting power</a:t>
            </a: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, and that the contract actively reverts any unauthorized vote attempts through historical snapshot enforcement.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72901" y="2223567"/>
            <a:ext cx="2320230" cy="1402928"/>
          </a:xfrm>
          <a:prstGeom prst="roundRect">
            <a:avLst>
              <a:gd name="adj" fmla="val 144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07963" y="2358628"/>
            <a:ext cx="2342555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Snapshot-Based Voting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7963" y="2646983"/>
            <a:ext cx="2050107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Voting power is derived from historical token snapshots, not live balances — rendering flash loans entirely ineffective.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2921868" y="2223567"/>
            <a:ext cx="2320230" cy="1402928"/>
          </a:xfrm>
          <a:prstGeom prst="roundRect">
            <a:avLst>
              <a:gd name="adj" fmla="val 1445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56930" y="2358628"/>
            <a:ext cx="234203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Zero Flash Loan Power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056930" y="2646983"/>
            <a:ext cx="20501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Tokens acquired within the same block as a proposal carry no voting weight by design.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72901" y="3755231"/>
            <a:ext cx="4769197" cy="980703"/>
          </a:xfrm>
          <a:prstGeom prst="roundRect">
            <a:avLst>
              <a:gd name="adj" fmla="val 2067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7963" y="3890293"/>
            <a:ext cx="21461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Revert on Violation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07963" y="4178647"/>
            <a:ext cx="449907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Any attempt to cast a vote with ineligible tokens triggers an immediate contract revert, blocking the transaction entirely.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644117-629B-C6C7-EE1B-6696292B0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16" name="Рисунок 1">
            <a:extLst>
              <a:ext uri="{FF2B5EF4-FFF2-40B4-BE49-F238E27FC236}">
                <a16:creationId xmlns:a16="http://schemas.microsoft.com/office/drawing/2014/main" id="{BE8DB25E-4676-6A14-9AD1-60131394E3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964" y="1703874"/>
            <a:ext cx="3601638" cy="103938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55393" y="353020"/>
            <a:ext cx="350296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Audit Summary</a:t>
            </a:r>
            <a:endParaRPr lang="en-US" sz="2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55393" y="890736"/>
            <a:ext cx="4036888" cy="218033"/>
          </a:xfrm>
          <a:prstGeom prst="roundRect">
            <a:avLst>
              <a:gd name="adj" fmla="val 6705"/>
            </a:avLst>
          </a:prstGeom>
          <a:solidFill>
            <a:srgbClr val="443D09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28467" y="927274"/>
            <a:ext cx="4347939" cy="144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7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SCOPE: GOVERNORCORE.SOL · GOVERNANCETOKEN.SOL · QUADRATICMATHLIB.SOL</a:t>
            </a:r>
            <a:endParaRPr lang="en-US" sz="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855393" y="1331119"/>
            <a:ext cx="19800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Methodology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083" y="1645258"/>
            <a:ext cx="182687" cy="1826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51275" y="1639193"/>
            <a:ext cx="188662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Automated: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Slither static analysis + Foundry fuzzing with 256+ iterations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1083" y="2398179"/>
            <a:ext cx="182687" cy="18268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251275" y="2392114"/>
            <a:ext cx="1886620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Manual: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Exhaustive line-by-line code review of all custom contracts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6439867" y="1331119"/>
            <a:ext cx="255344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All Critical Findings — Fixed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6439867" y="1639193"/>
            <a:ext cx="2282503" cy="634603"/>
          </a:xfrm>
          <a:prstGeom prst="roundRect">
            <a:avLst>
              <a:gd name="adj" fmla="val 10807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580" y="1639193"/>
            <a:ext cx="57150" cy="63460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618833" y="1775296"/>
            <a:ext cx="19674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ACC-01: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Missing initializer protection → </a:t>
            </a:r>
            <a:r>
              <a:rPr lang="en-US" sz="9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9"/>
          <p:cNvSpPr/>
          <p:nvPr/>
        </p:nvSpPr>
        <p:spPr>
          <a:xfrm>
            <a:off x="6439867" y="2378422"/>
            <a:ext cx="2282503" cy="634603"/>
          </a:xfrm>
          <a:prstGeom prst="roundRect">
            <a:avLst>
              <a:gd name="adj" fmla="val 10807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580" y="2378422"/>
            <a:ext cx="57150" cy="63460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8833" y="2514526"/>
            <a:ext cx="19674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LOG-01: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Integer overflow in sqrt → </a:t>
            </a:r>
            <a:r>
              <a:rPr lang="en-US" sz="9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with SafeCast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1"/>
          <p:cNvSpPr/>
          <p:nvPr/>
        </p:nvSpPr>
        <p:spPr>
          <a:xfrm>
            <a:off x="6439867" y="3117652"/>
            <a:ext cx="2282503" cy="815801"/>
          </a:xfrm>
          <a:prstGeom prst="roundRect">
            <a:avLst>
              <a:gd name="adj" fmla="val 8406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5580" y="3117652"/>
            <a:ext cx="57150" cy="815801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618833" y="3253755"/>
            <a:ext cx="1967433" cy="543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GAS-01: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Suboptimal sqrt → </a:t>
            </a:r>
            <a:r>
              <a:rPr lang="en-US" sz="9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Optimized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with Yul + Babylonian method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6439867" y="4038079"/>
            <a:ext cx="2282503" cy="634603"/>
          </a:xfrm>
          <a:prstGeom prst="roundRect">
            <a:avLst>
              <a:gd name="adj" fmla="val 10807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580" y="4038079"/>
            <a:ext cx="57150" cy="63460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618833" y="4174182"/>
            <a:ext cx="1967433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LOG-02:</a:t>
            </a:r>
            <a:r>
              <a:rPr lang="en-US" sz="9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Zero-weight votes → </a:t>
            </a:r>
            <a:r>
              <a:rPr lang="en-US" sz="95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Blocked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1C58D05-07A7-976F-92A5-9F3045B399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  <p:pic>
        <p:nvPicPr>
          <p:cNvPr id="25" name="Рисунок 1">
            <a:extLst>
              <a:ext uri="{FF2B5EF4-FFF2-40B4-BE49-F238E27FC236}">
                <a16:creationId xmlns:a16="http://schemas.microsoft.com/office/drawing/2014/main" id="{FD9A4A25-328C-46D8-51FF-47F2D4EC2D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351" y="13021"/>
            <a:ext cx="2998381" cy="511758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2524"/>
            <a:ext cx="464470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Audit Findings Overview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79029"/>
            <a:ext cx="8151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All identified vulnerabilities have been resolved or formally acknowledged. No outstanding critical or high-severity issues remain prior to deployment.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19" y="1892126"/>
            <a:ext cx="8151763" cy="2698849"/>
          </a:xfrm>
          <a:prstGeom prst="roundRect">
            <a:avLst>
              <a:gd name="adj" fmla="val 788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2863" y="1986707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Finding ID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866528" y="198670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Severity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32113" y="1986707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Location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37572" y="198670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Component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65975" y="1986707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Status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2863" y="2397919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ACC-01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866528" y="2397919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32113" y="2397919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GovernorCore.sol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37572" y="2397919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Access Control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65975" y="2397919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42863" y="2809131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LOG-01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866528" y="2809131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High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32113" y="2809131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QuadraticMathLib.sol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937572" y="2809131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65975" y="2809131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42863" y="3220343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GAS-01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866528" y="3220343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Medium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32113" y="3220343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QuadraticMathLib.sol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937572" y="3220343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Gas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565975" y="3220343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2863" y="3631555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LOG-02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866528" y="3631555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3332113" y="3631555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GovernorCore.sol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37572" y="3631555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Logic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565975" y="3631555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EEE27D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Fixed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2863" y="4042767"/>
            <a:ext cx="139258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GAS-02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66528" y="4042767"/>
            <a:ext cx="163450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Low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332113" y="4042767"/>
            <a:ext cx="277437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GovernorCore.sol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937572" y="4042767"/>
            <a:ext cx="179732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Gas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565975" y="4042767"/>
            <a:ext cx="93538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Acknowledged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799C56E-A42B-6808-4484-834FD4E1D2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0074"/>
            <a:ext cx="689952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Centralization &amp; Operational Security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796579"/>
            <a:ext cx="2622724" cy="2276847"/>
          </a:xfrm>
          <a:prstGeom prst="roundRect">
            <a:avLst>
              <a:gd name="adj" fmla="val 934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37877" y="1938337"/>
            <a:ext cx="2295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Decentralized Design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37877" y="2244849"/>
            <a:ext cx="2339206" cy="1686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Deployer role fully renounced after deployment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Governance contract owns all critical protocol functions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Timelock enforces a mandatory execution delay as a final safeguard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60601" y="1796579"/>
            <a:ext cx="2622724" cy="2276847"/>
          </a:xfrm>
          <a:prstGeom prst="roundRect">
            <a:avLst>
              <a:gd name="adj" fmla="val 934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02360" y="1938337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Security Council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402360" y="2244849"/>
            <a:ext cx="23392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3-of-5 multisig threshold for emergency actions only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Geographically distributed signers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Hardware wallets and a two-person rule are enforced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025083" y="1796579"/>
            <a:ext cx="2622724" cy="2276847"/>
          </a:xfrm>
          <a:prstGeom prst="roundRect">
            <a:avLst>
              <a:gd name="adj" fmla="val 934"/>
            </a:avLst>
          </a:prstGeom>
          <a:solidFill>
            <a:srgbClr val="3A3B3C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166842" y="1938337"/>
            <a:ext cx="233920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Social Engineering Resilience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166842" y="2466305"/>
            <a:ext cx="2339206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PGP-verified communications for all governance actors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Immutable on-chain documentation trail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Transparent, publicly auditable governance history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A2A5F3-CFB8-9568-0BF4-6576DA0C03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12" y="4779760"/>
            <a:ext cx="1531088" cy="36373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898579" y="1042169"/>
            <a:ext cx="2499122" cy="6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Slither Static Analysis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898579" y="1820838"/>
            <a:ext cx="2499122" cy="631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 comprehensive static scan was conducted across all custom contracts and inherited OpenZeppelin modules to surface potential vulnerabilities before manual review.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898579" y="2549203"/>
            <a:ext cx="2499122" cy="720626"/>
          </a:xfrm>
          <a:prstGeom prst="roundRect">
            <a:avLst>
              <a:gd name="adj" fmla="val 2305"/>
            </a:avLst>
          </a:prstGeom>
          <a:solidFill>
            <a:srgbClr val="183A13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308" y="2709788"/>
            <a:ext cx="138410" cy="1107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58446" y="2663354"/>
            <a:ext cx="2028527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Overall Result:</a:t>
            </a:r>
            <a:r>
              <a:rPr lang="en-US" sz="85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Clean for a production governance system — no unresolved critical flags.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750912" y="4080718"/>
            <a:ext cx="2489671" cy="723305"/>
          </a:xfrm>
          <a:prstGeom prst="roundRect">
            <a:avLst>
              <a:gd name="adj" fmla="val 9481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625" y="4080718"/>
            <a:ext cx="57150" cy="7233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18790" y="4205734"/>
            <a:ext cx="219677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Broad coverage: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All custom logic and OZ base contracts were scanned exhaustively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6"/>
          <p:cNvSpPr/>
          <p:nvPr/>
        </p:nvSpPr>
        <p:spPr>
          <a:xfrm>
            <a:off x="3327053" y="4080718"/>
            <a:ext cx="2489746" cy="723305"/>
          </a:xfrm>
          <a:prstGeom prst="roundRect">
            <a:avLst>
              <a:gd name="adj" fmla="val 9481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2765" y="4080718"/>
            <a:ext cx="57150" cy="72330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94931" y="4205734"/>
            <a:ext cx="2196852" cy="473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Yul / Assembly: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Inline assembly usage was flagged, reviewed, and justified for gas optimisation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8"/>
          <p:cNvSpPr/>
          <p:nvPr/>
        </p:nvSpPr>
        <p:spPr>
          <a:xfrm>
            <a:off x="5903268" y="4080718"/>
            <a:ext cx="2489671" cy="723305"/>
          </a:xfrm>
          <a:prstGeom prst="roundRect">
            <a:avLst>
              <a:gd name="adj" fmla="val 9481"/>
            </a:avLst>
          </a:prstGeom>
          <a:solidFill>
            <a:srgbClr val="1B1C1D"/>
          </a:solidFill>
          <a:ln w="14288">
            <a:solidFill>
              <a:srgbClr val="535455"/>
            </a:solidFill>
            <a:prstDash val="solid"/>
          </a:ln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980" y="4080718"/>
            <a:ext cx="57150" cy="72330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071146" y="4205734"/>
            <a:ext cx="2196778" cy="3155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8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All flags accepted: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Every warning was assessed in full operational context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4969076-EAD4-37FD-F543-925EE43D1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042" y="4855535"/>
            <a:ext cx="1428958" cy="287964"/>
          </a:xfrm>
          <a:prstGeom prst="rect">
            <a:avLst/>
          </a:prstGeom>
        </p:spPr>
      </p:pic>
      <p:pic>
        <p:nvPicPr>
          <p:cNvPr id="18" name="Рисунок 1">
            <a:extLst>
              <a:ext uri="{FF2B5EF4-FFF2-40B4-BE49-F238E27FC236}">
                <a16:creationId xmlns:a16="http://schemas.microsoft.com/office/drawing/2014/main" id="{9F4BD69A-7A28-082B-A6D4-9F884B8718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8386" y="261500"/>
            <a:ext cx="4329453" cy="36065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698320" y="394990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Conclusion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698320" y="858813"/>
            <a:ext cx="4955232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BCHT2 demonstrates that </a:t>
            </a:r>
            <a:r>
              <a:rPr lang="en-US" sz="8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democratic fairness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and </a:t>
            </a:r>
            <a:r>
              <a:rPr lang="en-US" sz="850" b="1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economic security</a:t>
            </a: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 can coexist in on-chain governance.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98320" y="1258863"/>
            <a:ext cx="271314" cy="2713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98320" y="1633984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Quadratic Voting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698320" y="1853357"/>
            <a:ext cx="54124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An innovative governance model that diminishes whale dominance and amplifies minority voices.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8320" y="2172816"/>
            <a:ext cx="271314" cy="2713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698320" y="2547938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Flash Loan Defence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5"/>
          <p:cNvSpPr/>
          <p:nvPr/>
        </p:nvSpPr>
        <p:spPr>
          <a:xfrm>
            <a:off x="1698320" y="2767310"/>
            <a:ext cx="54124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Snapshot-based voting power and contract-level reverts eliminate flash-loan attack vectors.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98320" y="3086770"/>
            <a:ext cx="271314" cy="2713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698320" y="3461891"/>
            <a:ext cx="183973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Professional Security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7"/>
          <p:cNvSpPr/>
          <p:nvPr/>
        </p:nvSpPr>
        <p:spPr>
          <a:xfrm>
            <a:off x="1698320" y="3681264"/>
            <a:ext cx="54124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Timelock, multi-sig council, audits, and Slither analysis establish a rigorous security posture.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698320" y="4000723"/>
            <a:ext cx="271314" cy="2713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698320" y="437584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CFCBBF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Efficient Data Layer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9"/>
          <p:cNvSpPr/>
          <p:nvPr/>
        </p:nvSpPr>
        <p:spPr>
          <a:xfrm>
            <a:off x="1698320" y="4595217"/>
            <a:ext cx="5412432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Graph integration enables fast, reliable, decentralized query access for governance data.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D587AE0-8411-F43A-2ECC-78E2ECCF7AE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042" y="4855535"/>
            <a:ext cx="1428958" cy="2879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5101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Thank You &amp; Q&amp;A</a:t>
            </a:r>
            <a:endParaRPr lang="en-US" sz="2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3823022" y="1165696"/>
            <a:ext cx="2392635" cy="3467621"/>
          </a:xfrm>
          <a:prstGeom prst="roundRect">
            <a:avLst>
              <a:gd name="adj" fmla="val 889"/>
            </a:avLst>
          </a:prstGeom>
          <a:solidFill>
            <a:srgbClr val="EEE27D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3964781" y="1307455"/>
            <a:ext cx="22925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Repository &amp; Commit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964781" y="1670670"/>
            <a:ext cx="21091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u="sng" dirty="0">
                <a:solidFill>
                  <a:srgbClr val="443D09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github.com/Aidynnnn/finalblock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964781" y="2251844"/>
            <a:ext cx="2566318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Commit: </a:t>
            </a:r>
            <a:r>
              <a:rPr lang="en-US" sz="1100" dirty="0">
                <a:solidFill>
                  <a:srgbClr val="000000"/>
                </a:solidFill>
                <a:highlight>
                  <a:srgbClr val="E1D570"/>
                </a:highlight>
                <a:latin typeface="Times New Roman" panose="02020603050405020304" pitchFamily="18" charset="0"/>
                <a:ea typeface="Consolas" pitchFamily="34" charset="-122"/>
                <a:cs typeface="Times New Roman" panose="02020603050405020304" pitchFamily="18" charset="0"/>
              </a:rPr>
              <a:t>c05613f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964781" y="2610966"/>
            <a:ext cx="21091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Status: Ready for mainnet deployment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64201" y="130745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2E782"/>
                </a:solidFill>
                <a:latin typeface="Times New Roman" panose="02020603050405020304" pitchFamily="18" charset="0"/>
                <a:ea typeface="Prata" pitchFamily="34" charset="-122"/>
                <a:cs typeface="Times New Roman" panose="02020603050405020304" pitchFamily="18" charset="0"/>
              </a:rPr>
              <a:t>Questions?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4201" y="1670670"/>
            <a:ext cx="2188443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CFCBB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The floor is open for technical questions on the protocol architecture, security posture, governance mechanisms, or deployment strategy.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464201" y="2964210"/>
            <a:ext cx="2188443" cy="1509638"/>
          </a:xfrm>
          <a:prstGeom prst="roundRect">
            <a:avLst>
              <a:gd name="adj" fmla="val 1409"/>
            </a:avLst>
          </a:prstGeom>
          <a:solidFill>
            <a:srgbClr val="022349"/>
          </a:solidFill>
          <a:ln/>
        </p:spPr>
        <p:txBody>
          <a:bodyPr/>
          <a:lstStyle/>
          <a:p>
            <a:endParaRPr lang="en-KZ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960" y="3179266"/>
            <a:ext cx="177180" cy="1417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4898" y="3141390"/>
            <a:ext cx="1585987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Times New Roman" panose="02020603050405020304" pitchFamily="18" charset="0"/>
                <a:ea typeface="Raleway" pitchFamily="34" charset="-122"/>
                <a:cs typeface="Times New Roman" panose="02020603050405020304" pitchFamily="18" charset="0"/>
              </a:rPr>
              <a:t>Slides, audit reports, and contract source code are all publicly accessible via the repository above.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F80C87-1B69-E33A-C291-9460105E6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042" y="4855535"/>
            <a:ext cx="1428958" cy="287964"/>
          </a:xfrm>
          <a:prstGeom prst="rect">
            <a:avLst/>
          </a:prstGeom>
        </p:spPr>
      </p:pic>
      <p:pic>
        <p:nvPicPr>
          <p:cNvPr id="15" name="Рисунок 1">
            <a:extLst>
              <a:ext uri="{FF2B5EF4-FFF2-40B4-BE49-F238E27FC236}">
                <a16:creationId xmlns:a16="http://schemas.microsoft.com/office/drawing/2014/main" id="{E0157B31-7598-A389-1B4B-C1D724752C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24275" y="-345080"/>
            <a:ext cx="5940425" cy="56210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1239</Words>
  <Application>Microsoft Macintosh PowerPoint</Application>
  <PresentationFormat>On-screen Show (16:9)</PresentationFormat>
  <Paragraphs>210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Daniil Khvan</cp:lastModifiedBy>
  <cp:revision>4</cp:revision>
  <dcterms:created xsi:type="dcterms:W3CDTF">2026-05-18T05:01:54Z</dcterms:created>
  <dcterms:modified xsi:type="dcterms:W3CDTF">2026-05-18T05:32:38Z</dcterms:modified>
</cp:coreProperties>
</file>